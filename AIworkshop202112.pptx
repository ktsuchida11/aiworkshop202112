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256" r:id="rId2"/>
    <p:sldId id="262" r:id="rId3"/>
    <p:sldId id="257" r:id="rId4"/>
    <p:sldId id="258" r:id="rId5"/>
    <p:sldId id="268" r:id="rId6"/>
    <p:sldId id="267" r:id="rId7"/>
    <p:sldId id="269"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47"/>
    <p:restoredTop sz="95745"/>
  </p:normalViewPr>
  <p:slideViewPr>
    <p:cSldViewPr snapToGrid="0" snapToObjects="1">
      <p:cViewPr varScale="1">
        <p:scale>
          <a:sx n="104" d="100"/>
          <a:sy n="104" d="100"/>
        </p:scale>
        <p:origin x="1016" y="208"/>
      </p:cViewPr>
      <p:guideLst>
        <p:guide orient="horz" pos="2160"/>
        <p:guide pos="3840"/>
      </p:guideLst>
    </p:cSldViewPr>
  </p:slideViewPr>
  <p:outlineViewPr>
    <p:cViewPr>
      <p:scale>
        <a:sx n="33" d="100"/>
        <a:sy n="33" d="100"/>
      </p:scale>
      <p:origin x="0" y="-2816"/>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B39B38-8570-364E-8559-B2CC810B009F}" type="datetimeFigureOut">
              <a:rPr kumimoji="1" lang="ja-JP" altLang="en-US" smtClean="0"/>
              <a:t>2021/12/12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B5473E-FE25-254A-BE5E-2ED4A563B608}" type="slidenum">
              <a:rPr kumimoji="1" lang="ja-JP" altLang="en-US" smtClean="0"/>
              <a:t>‹#›</a:t>
            </a:fld>
            <a:endParaRPr kumimoji="1" lang="ja-JP" altLang="en-US"/>
          </a:p>
        </p:txBody>
      </p:sp>
    </p:spTree>
    <p:extLst>
      <p:ext uri="{BB962C8B-B14F-4D97-AF65-F5344CB8AC3E}">
        <p14:creationId xmlns:p14="http://schemas.microsoft.com/office/powerpoint/2010/main" val="425863603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CEB5473E-FE25-254A-BE5E-2ED4A563B608}" type="slidenum">
              <a:rPr kumimoji="1" lang="ja-JP" altLang="en-US" smtClean="0"/>
              <a:t>3</a:t>
            </a:fld>
            <a:endParaRPr kumimoji="1" lang="ja-JP" altLang="en-US"/>
          </a:p>
        </p:txBody>
      </p:sp>
    </p:spTree>
    <p:extLst>
      <p:ext uri="{BB962C8B-B14F-4D97-AF65-F5344CB8AC3E}">
        <p14:creationId xmlns:p14="http://schemas.microsoft.com/office/powerpoint/2010/main" val="4075683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EB5473E-FE25-254A-BE5E-2ED4A563B608}" type="slidenum">
              <a:rPr kumimoji="1" lang="ja-JP" altLang="en-US" smtClean="0"/>
              <a:t>4</a:t>
            </a:fld>
            <a:endParaRPr kumimoji="1" lang="ja-JP" altLang="en-US"/>
          </a:p>
        </p:txBody>
      </p:sp>
    </p:spTree>
    <p:extLst>
      <p:ext uri="{BB962C8B-B14F-4D97-AF65-F5344CB8AC3E}">
        <p14:creationId xmlns:p14="http://schemas.microsoft.com/office/powerpoint/2010/main" val="2863955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EB5473E-FE25-254A-BE5E-2ED4A563B608}" type="slidenum">
              <a:rPr kumimoji="1" lang="ja-JP" altLang="en-US" smtClean="0"/>
              <a:t>5</a:t>
            </a:fld>
            <a:endParaRPr kumimoji="1" lang="ja-JP" altLang="en-US"/>
          </a:p>
        </p:txBody>
      </p:sp>
    </p:spTree>
    <p:extLst>
      <p:ext uri="{BB962C8B-B14F-4D97-AF65-F5344CB8AC3E}">
        <p14:creationId xmlns:p14="http://schemas.microsoft.com/office/powerpoint/2010/main" val="396789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12/12/21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2A54C80-263E-416B-A8E0-580EDEADCBDC}" type="datetimeFigureOut">
              <a:rPr lang="en-US" dirty="0"/>
              <a:t>12/12/21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12/12/21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ADD85F-C429-D74B-9811-84BAB1CA2805}"/>
              </a:ext>
            </a:extLst>
          </p:cNvPr>
          <p:cNvSpPr>
            <a:spLocks noGrp="1"/>
          </p:cNvSpPr>
          <p:nvPr>
            <p:ph type="ctrTitle"/>
          </p:nvPr>
        </p:nvSpPr>
        <p:spPr/>
        <p:txBody>
          <a:bodyPr/>
          <a:lstStyle/>
          <a:p>
            <a:r>
              <a:rPr kumimoji="1" lang="en-US" altLang="ja-JP" dirty="0"/>
              <a:t>AI </a:t>
            </a:r>
            <a:r>
              <a:rPr kumimoji="1" lang="en-US" altLang="ja-JP" dirty="0" err="1"/>
              <a:t>WorkShop</a:t>
            </a:r>
            <a:endParaRPr kumimoji="1" lang="ja-JP" altLang="en-US"/>
          </a:p>
        </p:txBody>
      </p:sp>
      <p:sp>
        <p:nvSpPr>
          <p:cNvPr id="3" name="字幕 2">
            <a:extLst>
              <a:ext uri="{FF2B5EF4-FFF2-40B4-BE49-F238E27FC236}">
                <a16:creationId xmlns:a16="http://schemas.microsoft.com/office/drawing/2014/main" id="{2374C8FD-8BD4-7D4A-9D96-EDC420358330}"/>
              </a:ext>
            </a:extLst>
          </p:cNvPr>
          <p:cNvSpPr>
            <a:spLocks noGrp="1"/>
          </p:cNvSpPr>
          <p:nvPr>
            <p:ph type="subTitle" idx="1"/>
          </p:nvPr>
        </p:nvSpPr>
        <p:spPr>
          <a:xfrm>
            <a:off x="1507067" y="4050833"/>
            <a:ext cx="7766936" cy="1397467"/>
          </a:xfrm>
        </p:spPr>
        <p:txBody>
          <a:bodyPr>
            <a:normAutofit fontScale="92500" lnSpcReduction="20000"/>
          </a:bodyPr>
          <a:lstStyle/>
          <a:p>
            <a:r>
              <a:rPr kumimoji="1" lang="ja-JP" altLang="en-US"/>
              <a:t>金融データを扱った機械学習の演習</a:t>
            </a:r>
            <a:endParaRPr kumimoji="1" lang="en-US" altLang="ja-JP" dirty="0"/>
          </a:p>
          <a:p>
            <a:r>
              <a:rPr kumimoji="1" lang="ja-JP" altLang="en-US"/>
              <a:t>フィナンシャル機械学習　第</a:t>
            </a:r>
            <a:r>
              <a:rPr lang="en-US" altLang="ja-JP" dirty="0"/>
              <a:t>6</a:t>
            </a:r>
            <a:r>
              <a:rPr kumimoji="1" lang="ja-JP" altLang="en-US"/>
              <a:t>章　</a:t>
            </a:r>
            <a:r>
              <a:rPr lang="ja-JP" altLang="en-US"/>
              <a:t>アンサンブル法</a:t>
            </a:r>
            <a:endParaRPr lang="en-US" altLang="ja-JP" dirty="0"/>
          </a:p>
          <a:p>
            <a:r>
              <a:rPr lang="en-US" altLang="ja-JP" dirty="0"/>
              <a:t>2021/12/17</a:t>
            </a:r>
          </a:p>
          <a:p>
            <a:r>
              <a:rPr lang="ja-JP" altLang="en-US"/>
              <a:t>土田晃司</a:t>
            </a:r>
            <a:endParaRPr kumimoji="1" lang="ja-JP" altLang="en-US"/>
          </a:p>
        </p:txBody>
      </p:sp>
    </p:spTree>
    <p:extLst>
      <p:ext uri="{BB962C8B-B14F-4D97-AF65-F5344CB8AC3E}">
        <p14:creationId xmlns:p14="http://schemas.microsoft.com/office/powerpoint/2010/main" val="77978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0C2761-15DE-EC4B-8759-EC1A70AC20A8}"/>
              </a:ext>
            </a:extLst>
          </p:cNvPr>
          <p:cNvSpPr>
            <a:spLocks noGrp="1"/>
          </p:cNvSpPr>
          <p:nvPr>
            <p:ph type="title"/>
          </p:nvPr>
        </p:nvSpPr>
        <p:spPr/>
        <p:txBody>
          <a:bodyPr>
            <a:noAutofit/>
          </a:bodyPr>
          <a:lstStyle/>
          <a:p>
            <a:r>
              <a:rPr lang="ja-JP" altLang="en-US" sz="2400"/>
              <a:t>金融データを扱った機械学習の演習</a:t>
            </a:r>
            <a:br>
              <a:rPr lang="en-US" altLang="ja-JP" sz="2400" dirty="0"/>
            </a:br>
            <a:r>
              <a:rPr lang="ja-JP" altLang="en-US" sz="2400"/>
              <a:t>フィナンシャル機械学習　第６章　アンサンブル法</a:t>
            </a:r>
            <a:br>
              <a:rPr lang="en-US" altLang="ja-JP" sz="2400" dirty="0"/>
            </a:br>
            <a:r>
              <a:rPr kumimoji="1" lang="ja-JP" altLang="en-US" sz="2400"/>
              <a:t>目次</a:t>
            </a:r>
            <a:br>
              <a:rPr kumimoji="1" lang="en-US" altLang="ja-JP" sz="2400" dirty="0"/>
            </a:br>
            <a:endParaRPr kumimoji="1" lang="ja-JP" altLang="en-US" sz="2400"/>
          </a:p>
        </p:txBody>
      </p:sp>
      <p:sp>
        <p:nvSpPr>
          <p:cNvPr id="3" name="コンテンツ プレースホルダー 2">
            <a:extLst>
              <a:ext uri="{FF2B5EF4-FFF2-40B4-BE49-F238E27FC236}">
                <a16:creationId xmlns:a16="http://schemas.microsoft.com/office/drawing/2014/main" id="{F2B3BAFF-CFBA-4443-81CC-5F855FF307F9}"/>
              </a:ext>
            </a:extLst>
          </p:cNvPr>
          <p:cNvSpPr>
            <a:spLocks noGrp="1"/>
          </p:cNvSpPr>
          <p:nvPr>
            <p:ph idx="1"/>
          </p:nvPr>
        </p:nvSpPr>
        <p:spPr/>
        <p:txBody>
          <a:bodyPr/>
          <a:lstStyle/>
          <a:p>
            <a:pPr>
              <a:buFont typeface="+mj-lt"/>
              <a:buAutoNum type="arabicPeriod"/>
            </a:pPr>
            <a:r>
              <a:rPr lang="ja-JP" altLang="en-US"/>
              <a:t>機械学習モデルの</a:t>
            </a:r>
            <a:r>
              <a:rPr lang="en-US" altLang="ja-JP" dirty="0"/>
              <a:t>3</a:t>
            </a:r>
            <a:r>
              <a:rPr lang="ja-JP" altLang="en-US"/>
              <a:t>つの誤り</a:t>
            </a:r>
            <a:endParaRPr kumimoji="1" lang="en-US" altLang="ja-JP" dirty="0"/>
          </a:p>
          <a:p>
            <a:pPr>
              <a:buFont typeface="+mj-lt"/>
              <a:buAutoNum type="arabicPeriod"/>
            </a:pPr>
            <a:r>
              <a:rPr lang="ja-JP" altLang="en-US"/>
              <a:t>アンサンブル法の手法１</a:t>
            </a:r>
            <a:endParaRPr lang="en-US" altLang="ja-JP" dirty="0"/>
          </a:p>
          <a:p>
            <a:pPr>
              <a:buFont typeface="+mj-lt"/>
              <a:buAutoNum type="arabicPeriod"/>
            </a:pPr>
            <a:r>
              <a:rPr lang="ja-JP" altLang="en-US"/>
              <a:t>アンサンブル法の手法２</a:t>
            </a:r>
            <a:endParaRPr lang="en-US" altLang="ja-JP" dirty="0"/>
          </a:p>
          <a:p>
            <a:pPr>
              <a:buFont typeface="+mj-lt"/>
              <a:buAutoNum type="arabicPeriod"/>
            </a:pPr>
            <a:r>
              <a:rPr lang="ja-JP" altLang="en-US"/>
              <a:t>バギングとブースティングの比較</a:t>
            </a:r>
            <a:endParaRPr lang="en-US" altLang="ja-JP" dirty="0"/>
          </a:p>
          <a:p>
            <a:pPr>
              <a:buFont typeface="+mj-lt"/>
              <a:buAutoNum type="arabicPeriod"/>
            </a:pPr>
            <a:r>
              <a:rPr lang="ja-JP" altLang="en-US"/>
              <a:t>まとめ</a:t>
            </a:r>
            <a:endParaRPr lang="en-US" altLang="ja-JP" dirty="0"/>
          </a:p>
          <a:p>
            <a:pPr>
              <a:buFont typeface="+mj-lt"/>
              <a:buAutoNum type="arabicPeriod"/>
            </a:pPr>
            <a:r>
              <a:rPr lang="ja-JP" altLang="en-US"/>
              <a:t>演習</a:t>
            </a:r>
            <a:r>
              <a:rPr kumimoji="1" lang="ja-JP" altLang="en-US"/>
              <a:t>問題</a:t>
            </a:r>
            <a:endParaRPr kumimoji="1" lang="en-US" altLang="ja-JP" dirty="0"/>
          </a:p>
        </p:txBody>
      </p:sp>
    </p:spTree>
    <p:extLst>
      <p:ext uri="{BB962C8B-B14F-4D97-AF65-F5344CB8AC3E}">
        <p14:creationId xmlns:p14="http://schemas.microsoft.com/office/powerpoint/2010/main" val="1324426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C771C0-CBA4-FF48-A97F-ED95FDEF51D2}"/>
              </a:ext>
            </a:extLst>
          </p:cNvPr>
          <p:cNvSpPr>
            <a:spLocks noGrp="1"/>
          </p:cNvSpPr>
          <p:nvPr>
            <p:ph type="title"/>
          </p:nvPr>
        </p:nvSpPr>
        <p:spPr/>
        <p:txBody>
          <a:bodyPr>
            <a:normAutofit/>
          </a:bodyPr>
          <a:lstStyle/>
          <a:p>
            <a:r>
              <a:rPr kumimoji="1" lang="ja-JP" altLang="en-US"/>
              <a:t>１</a:t>
            </a:r>
            <a:r>
              <a:rPr lang="ja-JP" altLang="en-US"/>
              <a:t>．機械学習モデルの</a:t>
            </a:r>
            <a:r>
              <a:rPr lang="en-US" altLang="ja-JP" dirty="0"/>
              <a:t>3</a:t>
            </a:r>
            <a:r>
              <a:rPr lang="ja-JP" altLang="en-US"/>
              <a:t>つの誤り</a:t>
            </a:r>
            <a:br>
              <a:rPr lang="en-US" altLang="ja-JP" dirty="0"/>
            </a:br>
            <a:endParaRPr kumimoji="1" lang="ja-JP" altLang="en-US"/>
          </a:p>
        </p:txBody>
      </p:sp>
      <p:sp>
        <p:nvSpPr>
          <p:cNvPr id="3" name="コンテンツ プレースホルダー 2">
            <a:extLst>
              <a:ext uri="{FF2B5EF4-FFF2-40B4-BE49-F238E27FC236}">
                <a16:creationId xmlns:a16="http://schemas.microsoft.com/office/drawing/2014/main" id="{F42507BE-6320-894A-9218-CC8BBC1513EB}"/>
              </a:ext>
            </a:extLst>
          </p:cNvPr>
          <p:cNvSpPr>
            <a:spLocks noGrp="1"/>
          </p:cNvSpPr>
          <p:nvPr>
            <p:ph idx="1"/>
          </p:nvPr>
        </p:nvSpPr>
        <p:spPr/>
        <p:txBody>
          <a:bodyPr>
            <a:normAutofit/>
          </a:bodyPr>
          <a:lstStyle/>
          <a:p>
            <a:pPr>
              <a:buFont typeface="+mj-lt"/>
              <a:buAutoNum type="arabicPeriod"/>
            </a:pPr>
            <a:r>
              <a:rPr lang="ja-JP" altLang="en-US"/>
              <a:t>バイアス</a:t>
            </a:r>
            <a:r>
              <a:rPr lang="en-US" altLang="ja-JP" dirty="0"/>
              <a:t>:</a:t>
            </a:r>
            <a:r>
              <a:rPr lang="ja-JP" altLang="en-US"/>
              <a:t>過度</a:t>
            </a:r>
            <a:endParaRPr lang="en-US" altLang="ja-JP" dirty="0"/>
          </a:p>
          <a:p>
            <a:pPr marL="400050" lvl="1" indent="0">
              <a:buNone/>
            </a:pPr>
            <a:r>
              <a:rPr lang="ja-JP" altLang="en-US"/>
              <a:t>非現実的な仮定をすることによる誤りで、アンダーフィットしていることになる。</a:t>
            </a:r>
            <a:endParaRPr lang="en-US" altLang="ja-JP" dirty="0"/>
          </a:p>
          <a:p>
            <a:pPr>
              <a:buFont typeface="+mj-lt"/>
              <a:buAutoNum type="arabicPeriod"/>
            </a:pPr>
            <a:r>
              <a:rPr lang="ja-JP" altLang="en-US"/>
              <a:t>バリアンス</a:t>
            </a:r>
            <a:r>
              <a:rPr lang="en-US" altLang="ja-JP" dirty="0"/>
              <a:t>:</a:t>
            </a:r>
            <a:r>
              <a:rPr lang="ja-JP" altLang="en-US"/>
              <a:t>感度</a:t>
            </a:r>
            <a:endParaRPr lang="en-US" altLang="ja-JP" dirty="0"/>
          </a:p>
          <a:p>
            <a:pPr marL="457200" lvl="1" indent="0">
              <a:buNone/>
            </a:pPr>
            <a:r>
              <a:rPr lang="ja-JP" altLang="en-US"/>
              <a:t>訓練データセットにおけるわずかな変化に対する感度が高いことによる誤りで、オーバフィットしていることになる。</a:t>
            </a:r>
            <a:endParaRPr lang="en-US" altLang="ja-JP" dirty="0"/>
          </a:p>
          <a:p>
            <a:pPr>
              <a:buFont typeface="+mj-lt"/>
              <a:buAutoNum type="arabicPeriod"/>
            </a:pPr>
            <a:r>
              <a:rPr lang="ja-JP" altLang="en-US"/>
              <a:t>バイアス</a:t>
            </a:r>
            <a:r>
              <a:rPr lang="en-US" altLang="ja-JP" dirty="0"/>
              <a:t>:</a:t>
            </a:r>
            <a:r>
              <a:rPr lang="ja-JP" altLang="en-US"/>
              <a:t>過度</a:t>
            </a:r>
            <a:endParaRPr lang="en-US" altLang="ja-JP" dirty="0"/>
          </a:p>
          <a:p>
            <a:pPr marL="457200" lvl="1" indent="0">
              <a:buNone/>
            </a:pPr>
            <a:r>
              <a:rPr lang="ja-JP" altLang="en-US"/>
              <a:t>予測不可能な変化や測定誤差などの観測値のバリアンスによる誤りで、既約誤差になる。</a:t>
            </a:r>
            <a:endParaRPr lang="en-US" altLang="ja-JP" dirty="0"/>
          </a:p>
          <a:p>
            <a:pPr marL="457200" lvl="1" indent="0">
              <a:buNone/>
            </a:pPr>
            <a:endParaRPr lang="en-US" altLang="ja-JP" dirty="0"/>
          </a:p>
          <a:p>
            <a:pPr marL="457200" lvl="1" indent="0">
              <a:buNone/>
            </a:pPr>
            <a:endParaRPr lang="en-US" altLang="ja-JP" dirty="0"/>
          </a:p>
          <a:p>
            <a:pPr marL="457200" lvl="1" indent="0">
              <a:buNone/>
            </a:pPr>
            <a:endParaRPr lang="en-US" altLang="ja-JP" dirty="0"/>
          </a:p>
          <a:p>
            <a:pPr>
              <a:buFont typeface="+mj-lt"/>
              <a:buAutoNum type="arabicPeriod"/>
            </a:pPr>
            <a:endParaRPr lang="en-US" altLang="ja-JP" dirty="0">
              <a:solidFill>
                <a:srgbClr val="FF0000"/>
              </a:solidFill>
            </a:endParaRPr>
          </a:p>
          <a:p>
            <a:pPr>
              <a:buFont typeface="+mj-lt"/>
              <a:buAutoNum type="arabicPeriod"/>
            </a:pPr>
            <a:endParaRPr lang="en-US" altLang="ja-JP" dirty="0">
              <a:solidFill>
                <a:srgbClr val="FF0000"/>
              </a:solidFill>
            </a:endParaRPr>
          </a:p>
        </p:txBody>
      </p:sp>
    </p:spTree>
    <p:extLst>
      <p:ext uri="{BB962C8B-B14F-4D97-AF65-F5344CB8AC3E}">
        <p14:creationId xmlns:p14="http://schemas.microsoft.com/office/powerpoint/2010/main" val="2765982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E9A0A5-2935-2F49-A479-7DDBD9DC95C8}"/>
              </a:ext>
            </a:extLst>
          </p:cNvPr>
          <p:cNvSpPr>
            <a:spLocks noGrp="1"/>
          </p:cNvSpPr>
          <p:nvPr>
            <p:ph type="title"/>
          </p:nvPr>
        </p:nvSpPr>
        <p:spPr/>
        <p:txBody>
          <a:bodyPr/>
          <a:lstStyle/>
          <a:p>
            <a:r>
              <a:rPr lang="ja-JP" altLang="en-US"/>
              <a:t>２．アンサンブル法の手法１</a:t>
            </a:r>
            <a:endParaRPr kumimoji="1" lang="ja-JP" altLang="en-US"/>
          </a:p>
        </p:txBody>
      </p:sp>
      <p:sp>
        <p:nvSpPr>
          <p:cNvPr id="3" name="コンテンツ プレースホルダー 2">
            <a:extLst>
              <a:ext uri="{FF2B5EF4-FFF2-40B4-BE49-F238E27FC236}">
                <a16:creationId xmlns:a16="http://schemas.microsoft.com/office/drawing/2014/main" id="{A7E30198-BB10-8A4D-9C8C-3B1E3E91ECF3}"/>
              </a:ext>
            </a:extLst>
          </p:cNvPr>
          <p:cNvSpPr>
            <a:spLocks noGrp="1"/>
          </p:cNvSpPr>
          <p:nvPr>
            <p:ph idx="1"/>
          </p:nvPr>
        </p:nvSpPr>
        <p:spPr>
          <a:xfrm>
            <a:off x="677334" y="1460452"/>
            <a:ext cx="8596668" cy="3880773"/>
          </a:xfrm>
        </p:spPr>
        <p:txBody>
          <a:bodyPr>
            <a:normAutofit/>
          </a:bodyPr>
          <a:lstStyle/>
          <a:p>
            <a:r>
              <a:rPr lang="ja-JP" altLang="en-US"/>
              <a:t>バギング</a:t>
            </a:r>
            <a:r>
              <a:rPr lang="en-US" altLang="ja-JP" dirty="0"/>
              <a:t>(</a:t>
            </a:r>
            <a:r>
              <a:rPr lang="ja-JP" altLang="en-US"/>
              <a:t>ブートストラップアグリゲーション</a:t>
            </a:r>
            <a:r>
              <a:rPr lang="en-US" altLang="ja-JP" dirty="0"/>
              <a:t>)</a:t>
            </a:r>
          </a:p>
          <a:p>
            <a:pPr marL="0" indent="0">
              <a:buNone/>
            </a:pPr>
            <a:r>
              <a:rPr lang="en-US" altLang="ja-JP" dirty="0"/>
              <a:t>	</a:t>
            </a:r>
            <a:r>
              <a:rPr lang="ja-JP" altLang="en-US"/>
              <a:t>弱分類器を独立に多数作り、それらの結果による多数決を行なって予測するモデル。各弱分類器の正解率を上げることはできない。（ランダムフォレスト）</a:t>
            </a:r>
            <a:endParaRPr lang="en-US" altLang="ja-JP" dirty="0"/>
          </a:p>
          <a:p>
            <a:pPr marL="0" indent="0">
              <a:buNone/>
            </a:pPr>
            <a:r>
              <a:rPr lang="ja-JP" altLang="en-US"/>
              <a:t>バリアンスを減らす効果があり、オーバフィットへの対処ができる。冗長なデータに対しては、過大な正解率を示す場合がある</a:t>
            </a:r>
            <a:endParaRPr lang="en-US" altLang="ja-JP" dirty="0"/>
          </a:p>
          <a:p>
            <a:pPr marL="0" indent="0">
              <a:buNone/>
            </a:pPr>
            <a:endParaRPr lang="en-US" altLang="ja-JP" dirty="0"/>
          </a:p>
          <a:p>
            <a:pPr marL="0" indent="0">
              <a:buNone/>
            </a:pPr>
            <a:endParaRPr lang="en-US" altLang="ja-JP" dirty="0"/>
          </a:p>
          <a:p>
            <a:endParaRPr lang="en-US" altLang="ja-JP" dirty="0"/>
          </a:p>
          <a:p>
            <a:pPr marL="0" indent="0">
              <a:buNone/>
            </a:pPr>
            <a:endParaRPr lang="en-US" altLang="ja-JP" dirty="0"/>
          </a:p>
        </p:txBody>
      </p:sp>
      <p:sp>
        <p:nvSpPr>
          <p:cNvPr id="5" name="円/楕円 4">
            <a:extLst>
              <a:ext uri="{FF2B5EF4-FFF2-40B4-BE49-F238E27FC236}">
                <a16:creationId xmlns:a16="http://schemas.microsoft.com/office/drawing/2014/main" id="{60AB8F03-F4A7-1B47-BF2F-19161D1844C8}"/>
              </a:ext>
            </a:extLst>
          </p:cNvPr>
          <p:cNvSpPr/>
          <p:nvPr/>
        </p:nvSpPr>
        <p:spPr>
          <a:xfrm>
            <a:off x="975360" y="4074386"/>
            <a:ext cx="999744" cy="9243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分類器１</a:t>
            </a:r>
          </a:p>
        </p:txBody>
      </p:sp>
      <p:sp>
        <p:nvSpPr>
          <p:cNvPr id="6" name="円/楕円 5">
            <a:extLst>
              <a:ext uri="{FF2B5EF4-FFF2-40B4-BE49-F238E27FC236}">
                <a16:creationId xmlns:a16="http://schemas.microsoft.com/office/drawing/2014/main" id="{3780E528-14B4-6F42-A09D-D63109EF89AD}"/>
              </a:ext>
            </a:extLst>
          </p:cNvPr>
          <p:cNvSpPr/>
          <p:nvPr/>
        </p:nvSpPr>
        <p:spPr>
          <a:xfrm>
            <a:off x="4475796" y="4074386"/>
            <a:ext cx="999744" cy="9243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分類器２</a:t>
            </a:r>
          </a:p>
        </p:txBody>
      </p:sp>
      <p:sp>
        <p:nvSpPr>
          <p:cNvPr id="7" name="円/楕円 6">
            <a:extLst>
              <a:ext uri="{FF2B5EF4-FFF2-40B4-BE49-F238E27FC236}">
                <a16:creationId xmlns:a16="http://schemas.microsoft.com/office/drawing/2014/main" id="{C1CC81BD-BCC1-0042-B81B-17D7CCE3BFC0}"/>
              </a:ext>
            </a:extLst>
          </p:cNvPr>
          <p:cNvSpPr/>
          <p:nvPr/>
        </p:nvSpPr>
        <p:spPr>
          <a:xfrm>
            <a:off x="7976232" y="4074386"/>
            <a:ext cx="999744" cy="9243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分類器</a:t>
            </a:r>
            <a:r>
              <a:rPr kumimoji="1" lang="ja-JP" altLang="en-US"/>
              <a:t>３</a:t>
            </a:r>
          </a:p>
        </p:txBody>
      </p:sp>
      <p:cxnSp>
        <p:nvCxnSpPr>
          <p:cNvPr id="9" name="直線矢印コネクタ 8">
            <a:extLst>
              <a:ext uri="{FF2B5EF4-FFF2-40B4-BE49-F238E27FC236}">
                <a16:creationId xmlns:a16="http://schemas.microsoft.com/office/drawing/2014/main" id="{A50B5E6A-75B6-1944-8998-54E33B21E837}"/>
              </a:ext>
            </a:extLst>
          </p:cNvPr>
          <p:cNvCxnSpPr>
            <a:stCxn id="4" idx="3"/>
            <a:endCxn id="6" idx="0"/>
          </p:cNvCxnSpPr>
          <p:nvPr/>
        </p:nvCxnSpPr>
        <p:spPr>
          <a:xfrm>
            <a:off x="4975668" y="3913632"/>
            <a:ext cx="0" cy="16075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1" name="直線矢印コネクタ 10">
            <a:extLst>
              <a:ext uri="{FF2B5EF4-FFF2-40B4-BE49-F238E27FC236}">
                <a16:creationId xmlns:a16="http://schemas.microsoft.com/office/drawing/2014/main" id="{2637FB3A-5F9E-0C4E-861E-2DDF100D0E24}"/>
              </a:ext>
            </a:extLst>
          </p:cNvPr>
          <p:cNvCxnSpPr>
            <a:endCxn id="5" idx="0"/>
          </p:cNvCxnSpPr>
          <p:nvPr/>
        </p:nvCxnSpPr>
        <p:spPr>
          <a:xfrm flipH="1">
            <a:off x="1475232" y="3352800"/>
            <a:ext cx="3500436" cy="72158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3" name="直線矢印コネクタ 12">
            <a:extLst>
              <a:ext uri="{FF2B5EF4-FFF2-40B4-BE49-F238E27FC236}">
                <a16:creationId xmlns:a16="http://schemas.microsoft.com/office/drawing/2014/main" id="{2CFEC764-DCDA-C54C-9558-8A067B58F3D6}"/>
              </a:ext>
            </a:extLst>
          </p:cNvPr>
          <p:cNvCxnSpPr>
            <a:endCxn id="7" idx="0"/>
          </p:cNvCxnSpPr>
          <p:nvPr/>
        </p:nvCxnSpPr>
        <p:spPr>
          <a:xfrm>
            <a:off x="4975668" y="3352800"/>
            <a:ext cx="3500436" cy="72158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4" name="下矢印 13">
            <a:extLst>
              <a:ext uri="{FF2B5EF4-FFF2-40B4-BE49-F238E27FC236}">
                <a16:creationId xmlns:a16="http://schemas.microsoft.com/office/drawing/2014/main" id="{341E84C1-7853-BC40-B947-66882B2CBF86}"/>
              </a:ext>
            </a:extLst>
          </p:cNvPr>
          <p:cNvSpPr/>
          <p:nvPr/>
        </p:nvSpPr>
        <p:spPr>
          <a:xfrm>
            <a:off x="4159470" y="5488658"/>
            <a:ext cx="1632396" cy="7559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C5085A7-FCBC-B34A-BA77-39372F227E60}"/>
              </a:ext>
            </a:extLst>
          </p:cNvPr>
          <p:cNvSpPr txBox="1"/>
          <p:nvPr/>
        </p:nvSpPr>
        <p:spPr>
          <a:xfrm>
            <a:off x="4036218" y="6266801"/>
            <a:ext cx="1878900" cy="369332"/>
          </a:xfrm>
          <a:prstGeom prst="rect">
            <a:avLst/>
          </a:prstGeom>
          <a:noFill/>
        </p:spPr>
        <p:txBody>
          <a:bodyPr wrap="square" rtlCol="0">
            <a:spAutoFit/>
          </a:bodyPr>
          <a:lstStyle/>
          <a:p>
            <a:r>
              <a:rPr kumimoji="1" lang="ja-JP" altLang="en-US"/>
              <a:t>最終的な予測値</a:t>
            </a:r>
          </a:p>
        </p:txBody>
      </p:sp>
      <p:cxnSp>
        <p:nvCxnSpPr>
          <p:cNvPr id="17" name="直線矢印コネクタ 16">
            <a:extLst>
              <a:ext uri="{FF2B5EF4-FFF2-40B4-BE49-F238E27FC236}">
                <a16:creationId xmlns:a16="http://schemas.microsoft.com/office/drawing/2014/main" id="{0A7561A4-7530-AC46-AA5A-5A00D865045C}"/>
              </a:ext>
            </a:extLst>
          </p:cNvPr>
          <p:cNvCxnSpPr>
            <a:cxnSpLocks/>
            <a:stCxn id="5" idx="4"/>
          </p:cNvCxnSpPr>
          <p:nvPr/>
        </p:nvCxnSpPr>
        <p:spPr>
          <a:xfrm>
            <a:off x="1475232" y="4998720"/>
            <a:ext cx="3062856" cy="48993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直線矢印コネクタ 18">
            <a:extLst>
              <a:ext uri="{FF2B5EF4-FFF2-40B4-BE49-F238E27FC236}">
                <a16:creationId xmlns:a16="http://schemas.microsoft.com/office/drawing/2014/main" id="{4ED13FDF-A5F9-2545-904E-0C102D5ADD3B}"/>
              </a:ext>
            </a:extLst>
          </p:cNvPr>
          <p:cNvCxnSpPr>
            <a:cxnSpLocks/>
            <a:stCxn id="6" idx="4"/>
          </p:cNvCxnSpPr>
          <p:nvPr/>
        </p:nvCxnSpPr>
        <p:spPr>
          <a:xfrm>
            <a:off x="4975668" y="4998720"/>
            <a:ext cx="0" cy="53261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直線矢印コネクタ 20">
            <a:extLst>
              <a:ext uri="{FF2B5EF4-FFF2-40B4-BE49-F238E27FC236}">
                <a16:creationId xmlns:a16="http://schemas.microsoft.com/office/drawing/2014/main" id="{D897C149-22A2-BD49-BB91-F3E87A8DBA39}"/>
              </a:ext>
            </a:extLst>
          </p:cNvPr>
          <p:cNvCxnSpPr>
            <a:cxnSpLocks/>
            <a:stCxn id="7" idx="4"/>
          </p:cNvCxnSpPr>
          <p:nvPr/>
        </p:nvCxnSpPr>
        <p:spPr>
          <a:xfrm flipH="1">
            <a:off x="5413248" y="4998720"/>
            <a:ext cx="3062856" cy="48993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 name="円柱 3">
            <a:extLst>
              <a:ext uri="{FF2B5EF4-FFF2-40B4-BE49-F238E27FC236}">
                <a16:creationId xmlns:a16="http://schemas.microsoft.com/office/drawing/2014/main" id="{CA9F5563-41E8-734D-A949-9508B92748DE}"/>
              </a:ext>
            </a:extLst>
          </p:cNvPr>
          <p:cNvSpPr/>
          <p:nvPr/>
        </p:nvSpPr>
        <p:spPr>
          <a:xfrm>
            <a:off x="4329492" y="3185160"/>
            <a:ext cx="1292352" cy="72847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全訓練データ</a:t>
            </a:r>
            <a:endParaRPr kumimoji="1" lang="en-US" altLang="ja-JP" sz="1400" dirty="0"/>
          </a:p>
        </p:txBody>
      </p:sp>
      <p:sp>
        <p:nvSpPr>
          <p:cNvPr id="22" name="テキスト ボックス 21">
            <a:extLst>
              <a:ext uri="{FF2B5EF4-FFF2-40B4-BE49-F238E27FC236}">
                <a16:creationId xmlns:a16="http://schemas.microsoft.com/office/drawing/2014/main" id="{208EDEDF-A38C-3343-A50E-3AA2D6208EE1}"/>
              </a:ext>
            </a:extLst>
          </p:cNvPr>
          <p:cNvSpPr txBox="1"/>
          <p:nvPr/>
        </p:nvSpPr>
        <p:spPr>
          <a:xfrm>
            <a:off x="4538088" y="5701684"/>
            <a:ext cx="875160" cy="369332"/>
          </a:xfrm>
          <a:prstGeom prst="rect">
            <a:avLst/>
          </a:prstGeom>
          <a:noFill/>
        </p:spPr>
        <p:txBody>
          <a:bodyPr wrap="square" rtlCol="0">
            <a:spAutoFit/>
          </a:bodyPr>
          <a:lstStyle/>
          <a:p>
            <a:r>
              <a:rPr kumimoji="1" lang="ja-JP" altLang="en-US"/>
              <a:t>多数決</a:t>
            </a:r>
          </a:p>
        </p:txBody>
      </p:sp>
      <p:sp>
        <p:nvSpPr>
          <p:cNvPr id="27" name="テキスト ボックス 26">
            <a:extLst>
              <a:ext uri="{FF2B5EF4-FFF2-40B4-BE49-F238E27FC236}">
                <a16:creationId xmlns:a16="http://schemas.microsoft.com/office/drawing/2014/main" id="{783DF2FB-911F-4643-971A-EA3CFA6D8E64}"/>
              </a:ext>
            </a:extLst>
          </p:cNvPr>
          <p:cNvSpPr txBox="1"/>
          <p:nvPr/>
        </p:nvSpPr>
        <p:spPr>
          <a:xfrm>
            <a:off x="6780495" y="3362549"/>
            <a:ext cx="3683825" cy="369332"/>
          </a:xfrm>
          <a:prstGeom prst="rect">
            <a:avLst/>
          </a:prstGeom>
          <a:noFill/>
        </p:spPr>
        <p:txBody>
          <a:bodyPr wrap="square" rtlCol="0">
            <a:spAutoFit/>
          </a:bodyPr>
          <a:lstStyle/>
          <a:p>
            <a:r>
              <a:rPr kumimoji="1" lang="ja-JP" altLang="en-US"/>
              <a:t>ブートストラップを使って作成</a:t>
            </a:r>
          </a:p>
        </p:txBody>
      </p:sp>
    </p:spTree>
    <p:extLst>
      <p:ext uri="{BB962C8B-B14F-4D97-AF65-F5344CB8AC3E}">
        <p14:creationId xmlns:p14="http://schemas.microsoft.com/office/powerpoint/2010/main" val="3796898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E9A0A5-2935-2F49-A479-7DDBD9DC95C8}"/>
              </a:ext>
            </a:extLst>
          </p:cNvPr>
          <p:cNvSpPr>
            <a:spLocks noGrp="1"/>
          </p:cNvSpPr>
          <p:nvPr>
            <p:ph type="title"/>
          </p:nvPr>
        </p:nvSpPr>
        <p:spPr/>
        <p:txBody>
          <a:bodyPr/>
          <a:lstStyle/>
          <a:p>
            <a:r>
              <a:rPr lang="ja-JP" altLang="en-US"/>
              <a:t>３．アンサンブル法の手法２</a:t>
            </a:r>
            <a:endParaRPr kumimoji="1" lang="ja-JP" altLang="en-US"/>
          </a:p>
        </p:txBody>
      </p:sp>
      <p:sp>
        <p:nvSpPr>
          <p:cNvPr id="3" name="コンテンツ プレースホルダー 2">
            <a:extLst>
              <a:ext uri="{FF2B5EF4-FFF2-40B4-BE49-F238E27FC236}">
                <a16:creationId xmlns:a16="http://schemas.microsoft.com/office/drawing/2014/main" id="{A7E30198-BB10-8A4D-9C8C-3B1E3E91ECF3}"/>
              </a:ext>
            </a:extLst>
          </p:cNvPr>
          <p:cNvSpPr>
            <a:spLocks noGrp="1"/>
          </p:cNvSpPr>
          <p:nvPr>
            <p:ph idx="1"/>
          </p:nvPr>
        </p:nvSpPr>
        <p:spPr>
          <a:xfrm>
            <a:off x="677334" y="1369343"/>
            <a:ext cx="8596668" cy="4672020"/>
          </a:xfrm>
        </p:spPr>
        <p:txBody>
          <a:bodyPr>
            <a:normAutofit/>
          </a:bodyPr>
          <a:lstStyle/>
          <a:p>
            <a:r>
              <a:rPr lang="ja-JP" altLang="en-US"/>
              <a:t>ブースティング</a:t>
            </a:r>
            <a:endParaRPr lang="en-US" altLang="ja-JP" dirty="0"/>
          </a:p>
          <a:p>
            <a:pPr marL="0" indent="0">
              <a:buNone/>
            </a:pPr>
            <a:r>
              <a:rPr lang="en-US" altLang="ja-JP" dirty="0"/>
              <a:t>	</a:t>
            </a:r>
            <a:r>
              <a:rPr lang="ja-JP" altLang="en-US"/>
              <a:t>順番に弱分類器を構成し、それらの結果による多数決を行なって予測するモデル。各弱分類器の正解率を上げることができる。（</a:t>
            </a:r>
            <a:r>
              <a:rPr lang="en" altLang="ja-JP" dirty="0"/>
              <a:t> AdaBoost </a:t>
            </a:r>
            <a:r>
              <a:rPr lang="ja-JP" altLang="en-US"/>
              <a:t>、</a:t>
            </a:r>
            <a:r>
              <a:rPr lang="en-US" altLang="ja-JP" dirty="0" err="1"/>
              <a:t>XGBoost</a:t>
            </a:r>
            <a:r>
              <a:rPr lang="ja-JP" altLang="en-US"/>
              <a:t>）</a:t>
            </a:r>
            <a:endParaRPr lang="en-US" altLang="ja-JP" dirty="0"/>
          </a:p>
          <a:p>
            <a:pPr marL="0" indent="0">
              <a:buNone/>
            </a:pPr>
            <a:r>
              <a:rPr lang="ja-JP" altLang="en-US"/>
              <a:t>バイアスとバリアンす両方を減らすことができるが、バイアスを減らすとオーバフィットの可能性が増す</a:t>
            </a:r>
            <a:endParaRPr lang="en-US" altLang="ja-JP" dirty="0"/>
          </a:p>
          <a:p>
            <a:pPr marL="0" indent="0">
              <a:buNone/>
            </a:pPr>
            <a:endParaRPr lang="en-US" altLang="ja-JP" dirty="0"/>
          </a:p>
          <a:p>
            <a:pPr marL="0" indent="0">
              <a:buNone/>
            </a:pPr>
            <a:endParaRPr lang="en-US" altLang="ja-JP" dirty="0"/>
          </a:p>
          <a:p>
            <a:endParaRPr lang="en-US" altLang="ja-JP" dirty="0"/>
          </a:p>
          <a:p>
            <a:pPr marL="0" indent="0">
              <a:buNone/>
            </a:pPr>
            <a:endParaRPr lang="en-US" altLang="ja-JP" dirty="0"/>
          </a:p>
        </p:txBody>
      </p:sp>
      <p:sp>
        <p:nvSpPr>
          <p:cNvPr id="4" name="円/楕円 3">
            <a:extLst>
              <a:ext uri="{FF2B5EF4-FFF2-40B4-BE49-F238E27FC236}">
                <a16:creationId xmlns:a16="http://schemas.microsoft.com/office/drawing/2014/main" id="{9EABAE28-DA4E-2E4D-9920-33420FE11224}"/>
              </a:ext>
            </a:extLst>
          </p:cNvPr>
          <p:cNvSpPr/>
          <p:nvPr/>
        </p:nvSpPr>
        <p:spPr>
          <a:xfrm>
            <a:off x="975360" y="4074386"/>
            <a:ext cx="999744" cy="9243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分類器１</a:t>
            </a:r>
          </a:p>
        </p:txBody>
      </p:sp>
      <p:sp>
        <p:nvSpPr>
          <p:cNvPr id="5" name="円/楕円 4">
            <a:extLst>
              <a:ext uri="{FF2B5EF4-FFF2-40B4-BE49-F238E27FC236}">
                <a16:creationId xmlns:a16="http://schemas.microsoft.com/office/drawing/2014/main" id="{B07595ED-05E4-D042-ACF2-DF6FADD8CE5B}"/>
              </a:ext>
            </a:extLst>
          </p:cNvPr>
          <p:cNvSpPr/>
          <p:nvPr/>
        </p:nvSpPr>
        <p:spPr>
          <a:xfrm>
            <a:off x="4475796" y="4074386"/>
            <a:ext cx="999744" cy="9243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分類器２</a:t>
            </a:r>
          </a:p>
        </p:txBody>
      </p:sp>
      <p:sp>
        <p:nvSpPr>
          <p:cNvPr id="6" name="円/楕円 5">
            <a:extLst>
              <a:ext uri="{FF2B5EF4-FFF2-40B4-BE49-F238E27FC236}">
                <a16:creationId xmlns:a16="http://schemas.microsoft.com/office/drawing/2014/main" id="{08145078-7071-E946-8CB7-3ED88C0DF1C5}"/>
              </a:ext>
            </a:extLst>
          </p:cNvPr>
          <p:cNvSpPr/>
          <p:nvPr/>
        </p:nvSpPr>
        <p:spPr>
          <a:xfrm>
            <a:off x="7976232" y="4074386"/>
            <a:ext cx="999744" cy="9243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分類器</a:t>
            </a:r>
            <a:r>
              <a:rPr kumimoji="1" lang="ja-JP" altLang="en-US"/>
              <a:t>３</a:t>
            </a:r>
          </a:p>
        </p:txBody>
      </p:sp>
      <p:cxnSp>
        <p:nvCxnSpPr>
          <p:cNvPr id="7" name="直線矢印コネクタ 6">
            <a:extLst>
              <a:ext uri="{FF2B5EF4-FFF2-40B4-BE49-F238E27FC236}">
                <a16:creationId xmlns:a16="http://schemas.microsoft.com/office/drawing/2014/main" id="{934B2BA0-1856-294D-B324-C5AC475B0B24}"/>
              </a:ext>
            </a:extLst>
          </p:cNvPr>
          <p:cNvCxnSpPr>
            <a:stCxn id="14" idx="3"/>
            <a:endCxn id="5" idx="0"/>
          </p:cNvCxnSpPr>
          <p:nvPr/>
        </p:nvCxnSpPr>
        <p:spPr>
          <a:xfrm>
            <a:off x="4975668" y="3962400"/>
            <a:ext cx="0" cy="1119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8" name="直線矢印コネクタ 7">
            <a:extLst>
              <a:ext uri="{FF2B5EF4-FFF2-40B4-BE49-F238E27FC236}">
                <a16:creationId xmlns:a16="http://schemas.microsoft.com/office/drawing/2014/main" id="{D0C7ED0F-81A9-744B-99D4-214E671C2A74}"/>
              </a:ext>
            </a:extLst>
          </p:cNvPr>
          <p:cNvCxnSpPr>
            <a:endCxn id="4" idx="0"/>
          </p:cNvCxnSpPr>
          <p:nvPr/>
        </p:nvCxnSpPr>
        <p:spPr>
          <a:xfrm flipH="1">
            <a:off x="1475232" y="3352800"/>
            <a:ext cx="3500436" cy="7215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 name="直線矢印コネクタ 8">
            <a:extLst>
              <a:ext uri="{FF2B5EF4-FFF2-40B4-BE49-F238E27FC236}">
                <a16:creationId xmlns:a16="http://schemas.microsoft.com/office/drawing/2014/main" id="{A007B3F3-1384-674D-85A6-BB6DE564A136}"/>
              </a:ext>
            </a:extLst>
          </p:cNvPr>
          <p:cNvCxnSpPr>
            <a:endCxn id="6" idx="0"/>
          </p:cNvCxnSpPr>
          <p:nvPr/>
        </p:nvCxnSpPr>
        <p:spPr>
          <a:xfrm>
            <a:off x="4975668" y="3352800"/>
            <a:ext cx="3500436" cy="7215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下矢印 9">
            <a:extLst>
              <a:ext uri="{FF2B5EF4-FFF2-40B4-BE49-F238E27FC236}">
                <a16:creationId xmlns:a16="http://schemas.microsoft.com/office/drawing/2014/main" id="{7983764B-9BCB-F440-8E9C-3523E8530F77}"/>
              </a:ext>
            </a:extLst>
          </p:cNvPr>
          <p:cNvSpPr/>
          <p:nvPr/>
        </p:nvSpPr>
        <p:spPr>
          <a:xfrm>
            <a:off x="4159470" y="5488658"/>
            <a:ext cx="1632396" cy="7559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C1E7F23-5EDD-1045-91EF-3CBA09D3B026}"/>
              </a:ext>
            </a:extLst>
          </p:cNvPr>
          <p:cNvSpPr txBox="1"/>
          <p:nvPr/>
        </p:nvSpPr>
        <p:spPr>
          <a:xfrm>
            <a:off x="4036218" y="6266801"/>
            <a:ext cx="1878900" cy="369332"/>
          </a:xfrm>
          <a:prstGeom prst="rect">
            <a:avLst/>
          </a:prstGeom>
          <a:noFill/>
        </p:spPr>
        <p:txBody>
          <a:bodyPr wrap="square" rtlCol="0">
            <a:spAutoFit/>
          </a:bodyPr>
          <a:lstStyle/>
          <a:p>
            <a:r>
              <a:rPr kumimoji="1" lang="ja-JP" altLang="en-US"/>
              <a:t>最終的な予測値</a:t>
            </a:r>
          </a:p>
        </p:txBody>
      </p:sp>
      <p:cxnSp>
        <p:nvCxnSpPr>
          <p:cNvPr id="12" name="直線矢印コネクタ 11">
            <a:extLst>
              <a:ext uri="{FF2B5EF4-FFF2-40B4-BE49-F238E27FC236}">
                <a16:creationId xmlns:a16="http://schemas.microsoft.com/office/drawing/2014/main" id="{588ED517-4018-AB42-8412-48824778BC7C}"/>
              </a:ext>
            </a:extLst>
          </p:cNvPr>
          <p:cNvCxnSpPr>
            <a:cxnSpLocks/>
            <a:stCxn id="4" idx="4"/>
          </p:cNvCxnSpPr>
          <p:nvPr/>
        </p:nvCxnSpPr>
        <p:spPr>
          <a:xfrm>
            <a:off x="1475232" y="4998720"/>
            <a:ext cx="3062856" cy="48993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 name="直線矢印コネクタ 12">
            <a:extLst>
              <a:ext uri="{FF2B5EF4-FFF2-40B4-BE49-F238E27FC236}">
                <a16:creationId xmlns:a16="http://schemas.microsoft.com/office/drawing/2014/main" id="{59913B2E-6238-214A-8F6A-F03A4B90589C}"/>
              </a:ext>
            </a:extLst>
          </p:cNvPr>
          <p:cNvCxnSpPr>
            <a:cxnSpLocks/>
            <a:stCxn id="6" idx="4"/>
          </p:cNvCxnSpPr>
          <p:nvPr/>
        </p:nvCxnSpPr>
        <p:spPr>
          <a:xfrm flipH="1">
            <a:off x="5413248" y="4998720"/>
            <a:ext cx="3062856" cy="48993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4" name="円柱 13">
            <a:extLst>
              <a:ext uri="{FF2B5EF4-FFF2-40B4-BE49-F238E27FC236}">
                <a16:creationId xmlns:a16="http://schemas.microsoft.com/office/drawing/2014/main" id="{A0553B98-242C-5F4F-A330-FA47C43C8FF2}"/>
              </a:ext>
            </a:extLst>
          </p:cNvPr>
          <p:cNvSpPr/>
          <p:nvPr/>
        </p:nvSpPr>
        <p:spPr>
          <a:xfrm>
            <a:off x="4329492" y="3233928"/>
            <a:ext cx="1292352" cy="72847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t>全訓練データ</a:t>
            </a:r>
            <a:endParaRPr kumimoji="1" lang="en-US" altLang="ja-JP" sz="1400" dirty="0"/>
          </a:p>
        </p:txBody>
      </p:sp>
      <p:cxnSp>
        <p:nvCxnSpPr>
          <p:cNvPr id="16" name="直線矢印コネクタ 15">
            <a:extLst>
              <a:ext uri="{FF2B5EF4-FFF2-40B4-BE49-F238E27FC236}">
                <a16:creationId xmlns:a16="http://schemas.microsoft.com/office/drawing/2014/main" id="{E032C53A-4EC0-B043-84D8-C0BF039C8A8E}"/>
              </a:ext>
            </a:extLst>
          </p:cNvPr>
          <p:cNvCxnSpPr>
            <a:cxnSpLocks/>
          </p:cNvCxnSpPr>
          <p:nvPr/>
        </p:nvCxnSpPr>
        <p:spPr>
          <a:xfrm>
            <a:off x="4975668" y="4998720"/>
            <a:ext cx="0" cy="53261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直線矢印コネクタ 17">
            <a:extLst>
              <a:ext uri="{FF2B5EF4-FFF2-40B4-BE49-F238E27FC236}">
                <a16:creationId xmlns:a16="http://schemas.microsoft.com/office/drawing/2014/main" id="{AD2F5BF7-A43E-8C4F-8847-F479F2AB7C37}"/>
              </a:ext>
            </a:extLst>
          </p:cNvPr>
          <p:cNvCxnSpPr>
            <a:stCxn id="4" idx="6"/>
            <a:endCxn id="5" idx="2"/>
          </p:cNvCxnSpPr>
          <p:nvPr/>
        </p:nvCxnSpPr>
        <p:spPr>
          <a:xfrm>
            <a:off x="1975104" y="4536553"/>
            <a:ext cx="2500692"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0" name="直線矢印コネクタ 19">
            <a:extLst>
              <a:ext uri="{FF2B5EF4-FFF2-40B4-BE49-F238E27FC236}">
                <a16:creationId xmlns:a16="http://schemas.microsoft.com/office/drawing/2014/main" id="{D95DCE00-64E9-7F4C-A55C-F40B3086E42F}"/>
              </a:ext>
            </a:extLst>
          </p:cNvPr>
          <p:cNvCxnSpPr>
            <a:stCxn id="5" idx="6"/>
            <a:endCxn id="6" idx="2"/>
          </p:cNvCxnSpPr>
          <p:nvPr/>
        </p:nvCxnSpPr>
        <p:spPr>
          <a:xfrm>
            <a:off x="5475540" y="4536553"/>
            <a:ext cx="2500692"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1" name="テキスト ボックス 20">
            <a:extLst>
              <a:ext uri="{FF2B5EF4-FFF2-40B4-BE49-F238E27FC236}">
                <a16:creationId xmlns:a16="http://schemas.microsoft.com/office/drawing/2014/main" id="{09E55C20-0A11-9144-84CF-55661381A799}"/>
              </a:ext>
            </a:extLst>
          </p:cNvPr>
          <p:cNvSpPr txBox="1"/>
          <p:nvPr/>
        </p:nvSpPr>
        <p:spPr>
          <a:xfrm>
            <a:off x="2048256" y="4590653"/>
            <a:ext cx="2354388" cy="369332"/>
          </a:xfrm>
          <a:prstGeom prst="rect">
            <a:avLst/>
          </a:prstGeom>
          <a:noFill/>
        </p:spPr>
        <p:txBody>
          <a:bodyPr wrap="square" rtlCol="0">
            <a:spAutoFit/>
          </a:bodyPr>
          <a:lstStyle/>
          <a:p>
            <a:r>
              <a:rPr kumimoji="1" lang="ja-JP" altLang="en-US"/>
              <a:t>結果を元に補正する</a:t>
            </a:r>
          </a:p>
        </p:txBody>
      </p:sp>
      <p:sp>
        <p:nvSpPr>
          <p:cNvPr id="22" name="テキスト ボックス 21">
            <a:extLst>
              <a:ext uri="{FF2B5EF4-FFF2-40B4-BE49-F238E27FC236}">
                <a16:creationId xmlns:a16="http://schemas.microsoft.com/office/drawing/2014/main" id="{A65D4BAA-EAEA-4D4B-95EC-E62EB3D1FE0C}"/>
              </a:ext>
            </a:extLst>
          </p:cNvPr>
          <p:cNvSpPr txBox="1"/>
          <p:nvPr/>
        </p:nvSpPr>
        <p:spPr>
          <a:xfrm>
            <a:off x="5475540" y="4590180"/>
            <a:ext cx="2354388" cy="369332"/>
          </a:xfrm>
          <a:prstGeom prst="rect">
            <a:avLst/>
          </a:prstGeom>
          <a:noFill/>
        </p:spPr>
        <p:txBody>
          <a:bodyPr wrap="square" rtlCol="0">
            <a:spAutoFit/>
          </a:bodyPr>
          <a:lstStyle/>
          <a:p>
            <a:r>
              <a:rPr kumimoji="1" lang="ja-JP" altLang="en-US"/>
              <a:t>結果を元に補正する</a:t>
            </a:r>
          </a:p>
        </p:txBody>
      </p:sp>
      <p:sp>
        <p:nvSpPr>
          <p:cNvPr id="23" name="テキスト ボックス 22">
            <a:extLst>
              <a:ext uri="{FF2B5EF4-FFF2-40B4-BE49-F238E27FC236}">
                <a16:creationId xmlns:a16="http://schemas.microsoft.com/office/drawing/2014/main" id="{A72C7999-62FD-6745-BFAA-9840C4293788}"/>
              </a:ext>
            </a:extLst>
          </p:cNvPr>
          <p:cNvSpPr txBox="1"/>
          <p:nvPr/>
        </p:nvSpPr>
        <p:spPr>
          <a:xfrm>
            <a:off x="4538088" y="5701684"/>
            <a:ext cx="875160" cy="369332"/>
          </a:xfrm>
          <a:prstGeom prst="rect">
            <a:avLst/>
          </a:prstGeom>
          <a:noFill/>
        </p:spPr>
        <p:txBody>
          <a:bodyPr wrap="square" rtlCol="0">
            <a:spAutoFit/>
          </a:bodyPr>
          <a:lstStyle/>
          <a:p>
            <a:r>
              <a:rPr kumimoji="1" lang="ja-JP" altLang="en-US"/>
              <a:t>多数決</a:t>
            </a:r>
          </a:p>
        </p:txBody>
      </p:sp>
    </p:spTree>
    <p:extLst>
      <p:ext uri="{BB962C8B-B14F-4D97-AF65-F5344CB8AC3E}">
        <p14:creationId xmlns:p14="http://schemas.microsoft.com/office/powerpoint/2010/main" val="4051111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AA8AC3-CA3F-8C43-AA78-0003C64F6A1A}"/>
              </a:ext>
            </a:extLst>
          </p:cNvPr>
          <p:cNvSpPr>
            <a:spLocks noGrp="1"/>
          </p:cNvSpPr>
          <p:nvPr>
            <p:ph type="title"/>
          </p:nvPr>
        </p:nvSpPr>
        <p:spPr/>
        <p:txBody>
          <a:bodyPr>
            <a:normAutofit/>
          </a:bodyPr>
          <a:lstStyle/>
          <a:p>
            <a:r>
              <a:rPr lang="ja-JP" altLang="en-US"/>
              <a:t>４</a:t>
            </a:r>
            <a:r>
              <a:rPr kumimoji="1" lang="ja-JP" altLang="en-US"/>
              <a:t>．</a:t>
            </a:r>
            <a:r>
              <a:rPr lang="ja-JP" altLang="en-US"/>
              <a:t>バギングとブースティングの比較</a:t>
            </a:r>
            <a:endParaRPr kumimoji="1" lang="ja-JP" altLang="en-US"/>
          </a:p>
        </p:txBody>
      </p:sp>
      <p:sp>
        <p:nvSpPr>
          <p:cNvPr id="3" name="コンテンツ プレースホルダー 2">
            <a:extLst>
              <a:ext uri="{FF2B5EF4-FFF2-40B4-BE49-F238E27FC236}">
                <a16:creationId xmlns:a16="http://schemas.microsoft.com/office/drawing/2014/main" id="{1763D4FB-13CC-604F-9DD7-4E0AE245D536}"/>
              </a:ext>
            </a:extLst>
          </p:cNvPr>
          <p:cNvSpPr>
            <a:spLocks noGrp="1"/>
          </p:cNvSpPr>
          <p:nvPr>
            <p:ph idx="1"/>
          </p:nvPr>
        </p:nvSpPr>
        <p:spPr>
          <a:xfrm>
            <a:off x="677334" y="2197165"/>
            <a:ext cx="8596668" cy="3880773"/>
          </a:xfrm>
        </p:spPr>
        <p:txBody>
          <a:bodyPr>
            <a:normAutofit/>
          </a:bodyPr>
          <a:lstStyle/>
          <a:p>
            <a:r>
              <a:rPr lang="ja-JP" altLang="en-US"/>
              <a:t>バギングは並列処理、ブースティングは逐次実行。</a:t>
            </a:r>
            <a:endParaRPr lang="en-US" altLang="ja-JP" dirty="0"/>
          </a:p>
          <a:p>
            <a:r>
              <a:rPr lang="ja-JP" altLang="en-US"/>
              <a:t>バギングは単一分類器の結果を出力、ブースティングは各分類器の加重平均になる。</a:t>
            </a:r>
            <a:endParaRPr lang="en-US" altLang="ja-JP" dirty="0"/>
          </a:p>
          <a:p>
            <a:r>
              <a:rPr lang="ja-JP" altLang="en-US"/>
              <a:t>バギングはバリアンスのみ削減できる、ブースティングはバイアスとバリアンス両方を削減できる。</a:t>
            </a:r>
            <a:endParaRPr lang="en-US" altLang="ja-JP" dirty="0"/>
          </a:p>
          <a:p>
            <a:endParaRPr lang="en-US" altLang="ja-JP" dirty="0"/>
          </a:p>
          <a:p>
            <a:pPr marL="0" indent="0">
              <a:buNone/>
            </a:pPr>
            <a:endParaRPr lang="en-US" altLang="ja-JP" dirty="0"/>
          </a:p>
          <a:p>
            <a:endParaRPr kumimoji="1" lang="ja-JP" altLang="en-US"/>
          </a:p>
        </p:txBody>
      </p:sp>
    </p:spTree>
    <p:extLst>
      <p:ext uri="{BB962C8B-B14F-4D97-AF65-F5344CB8AC3E}">
        <p14:creationId xmlns:p14="http://schemas.microsoft.com/office/powerpoint/2010/main" val="753230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AA8AC3-CA3F-8C43-AA78-0003C64F6A1A}"/>
              </a:ext>
            </a:extLst>
          </p:cNvPr>
          <p:cNvSpPr>
            <a:spLocks noGrp="1"/>
          </p:cNvSpPr>
          <p:nvPr>
            <p:ph type="title"/>
          </p:nvPr>
        </p:nvSpPr>
        <p:spPr/>
        <p:txBody>
          <a:bodyPr>
            <a:normAutofit/>
          </a:bodyPr>
          <a:lstStyle/>
          <a:p>
            <a:r>
              <a:rPr kumimoji="1" lang="ja-JP" altLang="en-US"/>
              <a:t>５．まとめ</a:t>
            </a:r>
          </a:p>
        </p:txBody>
      </p:sp>
      <p:sp>
        <p:nvSpPr>
          <p:cNvPr id="3" name="コンテンツ プレースホルダー 2">
            <a:extLst>
              <a:ext uri="{FF2B5EF4-FFF2-40B4-BE49-F238E27FC236}">
                <a16:creationId xmlns:a16="http://schemas.microsoft.com/office/drawing/2014/main" id="{1763D4FB-13CC-604F-9DD7-4E0AE245D536}"/>
              </a:ext>
            </a:extLst>
          </p:cNvPr>
          <p:cNvSpPr>
            <a:spLocks noGrp="1"/>
          </p:cNvSpPr>
          <p:nvPr>
            <p:ph idx="1"/>
          </p:nvPr>
        </p:nvSpPr>
        <p:spPr>
          <a:xfrm>
            <a:off x="677334" y="2197165"/>
            <a:ext cx="8596668" cy="3880773"/>
          </a:xfrm>
        </p:spPr>
        <p:txBody>
          <a:bodyPr>
            <a:normAutofit/>
          </a:bodyPr>
          <a:lstStyle/>
          <a:p>
            <a:endParaRPr lang="en-US" altLang="ja-JP" dirty="0"/>
          </a:p>
          <a:p>
            <a:r>
              <a:rPr lang="ja-JP" altLang="en-US"/>
              <a:t>金融データはノイズが少ないので、バイアスとバリアンスに注意すればよい</a:t>
            </a:r>
            <a:endParaRPr lang="en-US" altLang="ja-JP" dirty="0"/>
          </a:p>
          <a:p>
            <a:r>
              <a:rPr lang="ja-JP" altLang="en-US"/>
              <a:t>金融データを扱う場合は、オーバフィットすることが好ましくないので、バギングを利用する方が良い</a:t>
            </a:r>
            <a:endParaRPr lang="en-US" altLang="ja-JP" dirty="0"/>
          </a:p>
          <a:p>
            <a:r>
              <a:rPr lang="ja-JP" altLang="en-US"/>
              <a:t>バギングの方が並列で処理できるので、学習が早く完了する。</a:t>
            </a:r>
            <a:endParaRPr lang="en-US" altLang="ja-JP" dirty="0"/>
          </a:p>
          <a:p>
            <a:endParaRPr lang="en-US" altLang="ja-JP" dirty="0"/>
          </a:p>
          <a:p>
            <a:r>
              <a:rPr lang="ja-JP" altLang="en-US"/>
              <a:t>演習ではバギングとブースティングを比べます。</a:t>
            </a:r>
            <a:endParaRPr lang="en-US" altLang="ja-JP" dirty="0"/>
          </a:p>
          <a:p>
            <a:r>
              <a:rPr lang="en-US" altLang="ja-JP" dirty="0" err="1"/>
              <a:t>Deeplarning</a:t>
            </a:r>
            <a:r>
              <a:rPr lang="ja-JP" altLang="en-US"/>
              <a:t>の学習の流れをおさらいします。</a:t>
            </a:r>
            <a:endParaRPr lang="en-US" altLang="ja-JP" dirty="0"/>
          </a:p>
          <a:p>
            <a:pPr marL="0" indent="0">
              <a:buNone/>
            </a:pPr>
            <a:endParaRPr lang="en-US" altLang="ja-JP" dirty="0"/>
          </a:p>
          <a:p>
            <a:endParaRPr lang="en-US" altLang="ja-JP" dirty="0"/>
          </a:p>
          <a:p>
            <a:endParaRPr lang="en-US" altLang="ja-JP" dirty="0"/>
          </a:p>
          <a:p>
            <a:endParaRPr kumimoji="1" lang="ja-JP" altLang="en-US"/>
          </a:p>
        </p:txBody>
      </p:sp>
    </p:spTree>
    <p:extLst>
      <p:ext uri="{BB962C8B-B14F-4D97-AF65-F5344CB8AC3E}">
        <p14:creationId xmlns:p14="http://schemas.microsoft.com/office/powerpoint/2010/main" val="2611407692"/>
      </p:ext>
    </p:extLst>
  </p:cSld>
  <p:clrMapOvr>
    <a:masterClrMapping/>
  </p:clrMapOvr>
</p:sld>
</file>

<file path=ppt/theme/theme1.xml><?xml version="1.0" encoding="utf-8"?>
<a:theme xmlns:a="http://schemas.openxmlformats.org/drawingml/2006/main" name="ファセット">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ファセット</Template>
  <TotalTime>15016</TotalTime>
  <Words>448</Words>
  <Application>Microsoft Macintosh PowerPoint</Application>
  <PresentationFormat>ワイド画面</PresentationFormat>
  <Paragraphs>67</Paragraphs>
  <Slides>7</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游ゴシック</vt:lpstr>
      <vt:lpstr>Arial</vt:lpstr>
      <vt:lpstr>Trebuchet MS</vt:lpstr>
      <vt:lpstr>Wingdings 3</vt:lpstr>
      <vt:lpstr>ファセット</vt:lpstr>
      <vt:lpstr>AI WorkShop</vt:lpstr>
      <vt:lpstr>金融データを扱った機械学習の演習 フィナンシャル機械学習　第６章　アンサンブル法 目次 </vt:lpstr>
      <vt:lpstr>１．機械学習モデルの3つの誤り </vt:lpstr>
      <vt:lpstr>２．アンサンブル法の手法１</vt:lpstr>
      <vt:lpstr>３．アンサンブル法の手法２</vt:lpstr>
      <vt:lpstr>４．バギングとブースティングの比較</vt:lpstr>
      <vt:lpstr>５．まとめ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WorkShop</dc:title>
  <dc:creator>土田 晃司</dc:creator>
  <cp:lastModifiedBy>土田 晃司</cp:lastModifiedBy>
  <cp:revision>46</cp:revision>
  <cp:lastPrinted>2021-10-08T11:04:39Z</cp:lastPrinted>
  <dcterms:created xsi:type="dcterms:W3CDTF">2021-07-08T22:01:26Z</dcterms:created>
  <dcterms:modified xsi:type="dcterms:W3CDTF">2021-12-12T05:13:27Z</dcterms:modified>
</cp:coreProperties>
</file>